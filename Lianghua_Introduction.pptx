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</a:defRPr>
            </a:pPr>
            <a:r>
              <a:t>Lianghua (量化)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Multi-Agent Collaborative Quantitative Investment Research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多 Agent 协作量化投研系统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88"/>
                </a:solidFill>
              </a:defRPr>
            </a:pPr>
            <a:r>
              <a:t>LLM-Driven  |  Neo4j Memory  |  ChromaDB RAG  |  Alpaca Trading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传统量化投研的痛点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流程割裂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数据获取、因子挖掘、回测、交易执行分散在多个工具中，缺乏统一编排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97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知识流失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063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每次策略迭代从零开始，历史经验、失败教训无法沉淀复用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404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人力瓶颈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519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因子挖掘依赖人工经验，难以系统性地探索海量因子空间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3776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响应滞后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440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人工完成 数据-&gt;分析-&gt;决策-&gt;执行 循环耗时长，错过交易窗口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解决思路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LLM 驱动的多 Agent 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每个 Agent 专注一个环节，通过 Orchestrator 统一调度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</a:defRPr>
            </a:pPr>
            <a:r>
              <a:t>图记忆系统 (Neo4j)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策略表现、失败教训、市场规律自动沉淀为结构化知识图谱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49039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RAG 知识库 (ChromaDB)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量化论文（Alpha101）向量化，Agent 实时检索学术研究成果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37760"/>
            <a:ext cx="1005840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88"/>
                </a:solidFill>
              </a:defRPr>
            </a:pPr>
            <a:r>
              <a:t>全自动流水线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从全市场拉取到订单执行，一键完成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系统架构总览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0152" cy="64008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</a:defRPr>
            </a:pPr>
            <a:r>
              <a:t>Market Universe | Alpaca API 全市场股票池 (NYSE/NASDAQ) | 24h 磁盘缓存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v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6702552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Orchestrator | 编排调度层 | 快照预筛 + RAG查询 + 记忆查询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201168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</a:defRPr>
            </a:pPr>
            <a:r>
              <a:t>Alpha Agent</a:t>
            </a:r>
            <a:br/>
            <a:r>
              <a:t>信号生成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108960"/>
            <a:ext cx="201168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Risk Agent</a:t>
            </a:r>
            <a:br/>
            <a:r>
              <a:t>风险控制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108960"/>
            <a:ext cx="201168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3154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Portfolio Agent</a:t>
            </a:r>
            <a:br/>
            <a:r>
              <a:t>组合优化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108960"/>
            <a:ext cx="201168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154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Backtest Agent</a:t>
            </a:r>
            <a:br/>
            <a:r>
              <a:t>回测评估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3108960"/>
            <a:ext cx="201168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3154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555"/>
                </a:solidFill>
              </a:defRPr>
            </a:pPr>
            <a:r>
              <a:t>Execution Agent</a:t>
            </a:r>
            <a:br/>
            <a:r>
              <a:t>订单执行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297680"/>
            <a:ext cx="8531352" cy="100584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</a:defRPr>
            </a:pPr>
            <a:r>
              <a:t>Neo4j 图记忆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ChromaDB RAG 向量库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MCP / A2A Agent 间通信协议  |  策略反思存储  |  Alpha101 论文检索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88"/>
                </a:solidFill>
              </a:defRPr>
            </a:pPr>
            <a:r>
              <a:t>Agent-as-Tool 模式: 每个 Agent 既可独立运行，也可被 Orchestrator 作为子工具调度调用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Alpha Agent | 信号生成引擎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</a:defRPr>
            </a:pPr>
            <a:r>
              <a:t>工作流程 (Pipeline)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1. 接收市场数据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从 Orchestrator 获取 train_data + test_data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2. 计算技术指标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RSI(14) / MACD(12,26) / Bollinger(20,2)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3. 准备特征矩阵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将指标作为 X，forward return 作为 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13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4. 训练 ML 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87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在 train_data 上 fit (Linear / RF / LightGBM)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5. 生成预测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在 test_data 上 predict，得到每只股票得分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49240"/>
            <a:ext cx="5029200" cy="6400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675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6. 转化为信号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41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score &gt; threshold -&gt; +1 (买入), &lt; -threshold -&gt; -1 (卖出)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核心机制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63040"/>
            <a:ext cx="5029200" cy="12801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</a:defRPr>
            </a:pPr>
            <a:r>
              <a:t>防泄漏: Train/Test 严格分离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Orchestrator 提供 365 天 lookback 数据</a:t>
            </a:r>
            <a:br/>
            <a:r>
              <a:t>train_data: 历史区间 (模型学习)</a:t>
            </a:r>
            <a:br/>
            <a:r>
              <a:t>test_data:  当前区间 (生成信号)</a:t>
            </a:r>
            <a:br/>
            <a:r>
              <a:t>模型只在 train 上 fit，test 上 predict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26080"/>
            <a:ext cx="5029200" cy="12801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</a:defRPr>
            </a:pPr>
            <a:r>
              <a:t>LLM 参与方式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Agent 通过 OpenAI Function Calling 调度工具:</a:t>
            </a:r>
            <a:br/>
            <a:r>
              <a:t>run_alpha_pipeline -&gt; 一键执行全流程</a:t>
            </a:r>
            <a:br/>
            <a:r>
              <a:t>calculate_indicators -&gt; 单独计算指标</a:t>
            </a:r>
            <a:br/>
            <a:r>
              <a:t>train_predict -&gt; 单独训练预测</a:t>
            </a:r>
            <a:br/>
            <a:r>
              <a:t>submit_signals -&gt; 提交最终信号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389120"/>
            <a:ext cx="5029200" cy="1463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</a:defRPr>
            </a:pPr>
            <a:r>
              <a:t>因子体系 (Qlib Alpha158)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54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158 个标准化因子，涵盖:</a:t>
            </a:r>
            <a:br/>
            <a:r>
              <a:t>  - 动量因子 (Momentum)</a:t>
            </a:r>
            <a:br/>
            <a:r>
              <a:t>  - 均值回复 (Mean Reversion)</a:t>
            </a:r>
            <a:br/>
            <a:r>
              <a:t>  - 波动率因子 (Volatility)</a:t>
            </a:r>
            <a:br/>
            <a:r>
              <a:t>  - 成交量因子 (Volume)</a:t>
            </a:r>
            <a:br/>
            <a:r>
              <a:t>  - 技术指标 (RSI/MACD/Bollinger)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Risk Agent | 风险控制系统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多维度风险评估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0515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</a:defRPr>
            </a:pPr>
            <a:r>
              <a:t>市场风险 (Volatility)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rolling_vol = returns.rolling(20).std() * sqrt(252)</a:t>
            </a:r>
            <a:br/>
            <a:r>
              <a:t>20日滚动年化波动率，&gt;30% 判定为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029200" cy="10515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尾部风险 (VaR 95%)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var = np.percentile(returns, 5)</a:t>
            </a:r>
            <a:br/>
            <a:r>
              <a:t>历史模拟法，&lt;-3% 判定为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029200" cy="10515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综合风险评分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score = volatility_score + var_score</a:t>
            </a:r>
            <a:br/>
            <a:r>
              <a:t>&gt;=0.5 -&gt; HIGH, &lt;0.5 -&gt; 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5029200" cy="10515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</a:defRPr>
            </a:pPr>
            <a:r>
              <a:t>风险信号输出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overall_risk_level: HIGH / LOW</a:t>
            </a:r>
            <a:br/>
            <a:r>
              <a:t>risk_score: 0.0 ~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</a:defRPr>
            </a:pPr>
            <a:r>
              <a:t>工作流程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1: 接收数据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10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从 Orchestrator 获取 test_data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2: 计算收益率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if 多只股票: 按日期取平均 close</a:t>
            </a:r>
            <a:br/>
            <a:r>
              <a:t>else: 直接计算 pct_change()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3: 波动率计算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73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_calculate_volatility(returns, window=20)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4: VaR 计算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_calculate_var(returns, confidence=0.05)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5: 生成信号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_generate_risk_signals(metrics)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Step 6: 输出结果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68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{overall_risk_level, risk_score}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FF88"/>
                </a:solidFill>
              </a:defRPr>
            </a:pPr>
            <a:r>
              <a:t>LLM 兜底: 若 LLM 调用失败，自动降级到本地 _run_risk_pipeline_impl() 直接计算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Portfolio Agent | 组合优化引擎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</a:defRPr>
            </a:pPr>
            <a:r>
              <a:t>核心算法: 信号 x 风险 -&gt; 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1. 解析 Alpha 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接收 {symbol: score} 字典</a:t>
            </a:r>
            <a:br/>
            <a:r>
              <a:t>正分数 = 看多，负分数 = 看空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502920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2. 风险资本分配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HIGH -&gt; 50% capital</a:t>
            </a:r>
            <a:br/>
            <a:r>
              <a:t>MODERATE -&gt; 80% capital</a:t>
            </a:r>
            <a:br/>
            <a:r>
              <a:t>LOW -&gt; 100% capital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02920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</a:defRPr>
            </a:pPr>
            <a:r>
              <a:t>3. 筛选正信号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score &gt; 0 的股票进入候选池</a:t>
            </a:r>
            <a:br/>
            <a:r>
              <a:t>score &lt;= 0 标记为 exit_candidates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502920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</a:defRPr>
            </a:pPr>
            <a:r>
              <a:t>4. 排名选取 Top-K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按 score 降序排列</a:t>
            </a:r>
            <a:br/>
            <a:r>
              <a:t>取前 max_positions 只 (默认20)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502920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</a:defRPr>
            </a:pPr>
            <a:r>
              <a:t>5. 等权分配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weight = risk_allocation / N</a:t>
            </a:r>
            <a:br/>
            <a:r>
              <a:t>每只股票等权重分配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订单生成 (generate_orders)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从目标权重到实际订单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828800"/>
            <a:ext cx="457200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92024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for symbol in all_symbols: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target_value = weight * total_capital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current_value = position_market_value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diff = target_value - current_value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if abs(diff) &lt; min_trade_value: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    continue  # 跳过小额调整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qty = int(abs(diff) / price)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if diff &gt; 0:  BUY</a:t>
            </a:r>
          </a:p>
          <a:p>
            <a:pPr>
              <a:spcAft>
                <a:spcPts val="200"/>
              </a:spcAft>
              <a:defRPr sz="1100">
                <a:solidFill>
                  <a:srgbClr val="00FF88"/>
                </a:solidFill>
                <a:latin typeface="Courier New"/>
              </a:defRPr>
            </a:pPr>
            <a:r>
              <a:t>    if diff &lt; 0:  SELL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555"/>
                </a:solidFill>
              </a:defRPr>
            </a:pPr>
            <a:r>
              <a:t>执行顺序: 先卖后买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1. 先执行 SELL 订单 (释放现金)</a:t>
            </a:r>
            <a:br/>
            <a:br/>
            <a:r>
              <a:t>2. 再执行 BUY 订单 (使用释放的现金)</a:t>
            </a:r>
            <a:br/>
            <a:br/>
            <a:r>
              <a:t>3. 每笔订单经过 validate_order() 风控:</a:t>
            </a:r>
            <a:br/>
            <a:r>
              <a:t>   - 最小订单 $50</a:t>
            </a:r>
            <a:br/>
            <a:r>
              <a:t>   - 最大订单 $200,000</a:t>
            </a:r>
            <a:br/>
            <a:r>
              <a:t>   - 单票不超过组合 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</a:defRPr>
            </a:pPr>
            <a:r>
              <a:t>Backtest Agent | 回测评估引擎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核心: 基于价值的会计模拟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1. 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cash = total_capital</a:t>
            </a:r>
            <a:br/>
            <a:r>
              <a:t>holdings = {sym: 0}  (每只股票0股)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2. 每日循环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计算持仓市值 stock_value</a:t>
            </a:r>
            <a:br/>
            <a:r>
              <a:t>总权益 equity = cash + stock_value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4261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3. 判断是否调仓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43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if 天数 % investment_horizon == 0:</a:t>
            </a:r>
            <a:br/>
            <a:r>
              <a:t>    触发调仓逻辑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4. 获取信号分数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0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从 predictions 中读取当日各股票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5. 构建目标组合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Top-K 等权，max_position_size 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6. 先卖后买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先卖出偏离目标的持仓</a:t>
            </a:r>
            <a:br/>
            <a:r>
              <a:t>再买入目标持仓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7. 记录历史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每日记录 equity, cash, cost, holdings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772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</a:defRPr>
            </a:pPr>
            <a:r>
              <a:t>8. 计算绩效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78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总收益、Sharpe、最大回撤、波动率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两种回测模式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Standard 回测 (run_pipeline)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- 固定训练/测试区间</a:t>
            </a:r>
            <a:br/>
            <a:r>
              <a:t>- 一次性生成所有信号</a:t>
            </a:r>
            <a:br/>
            <a:r>
              <a:t>- 适合快速验证策略</a:t>
            </a:r>
            <a:br/>
            <a:br/>
            <a:r>
              <a:t>命令: --mode backtest --start X --end 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57600"/>
            <a:ext cx="5029200" cy="23774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Rolling Weekly 回测 (--rolling)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0233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- 每周滚动重训模型</a:t>
            </a:r>
            <a:br/>
            <a:r>
              <a:t>- 严格 Walk-Forward 验证</a:t>
            </a:r>
            <a:br/>
            <a:r>
              <a:t>- 避免前视偏差 (Look-Ahead Bias)</a:t>
            </a:r>
            <a:br/>
            <a:br/>
            <a:r>
              <a:t>流程:</a:t>
            </a:r>
            <a:br/>
            <a:r>
              <a:t>  Week1: train[lookback] -&gt; predict[week1]</a:t>
            </a:r>
            <a:br/>
            <a:r>
              <a:t>  Week2: train[lookback+1] -&gt; predict[week2]</a:t>
            </a:r>
            <a:br/>
            <a:r>
              <a:t>  ...  拼接所有周信号 -&gt; 统一回测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88"/>
                </a:solidFill>
              </a:defRPr>
            </a:pPr>
            <a:r>
              <a:t>输出指标: Total Return | Sharpe Ratio | Max Drawdown | Volatility | Calmar Ratio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555"/>
                </a:solidFill>
              </a:defRPr>
            </a:pPr>
            <a:r>
              <a:t>Execution Agent | 交易执行系统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55"/>
                </a:solidFill>
              </a:defRPr>
            </a:pPr>
            <a:r>
              <a:t>Alpaca API 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AlpacaService 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- get_account()      获取账户信息</a:t>
            </a:r>
            <a:br/>
            <a:r>
              <a:t>- get_positions()    获取当前持仓</a:t>
            </a:r>
            <a:br/>
            <a:r>
              <a:t>- place_order()      下单 (market/limit/stop)</a:t>
            </a:r>
            <a:br/>
            <a:r>
              <a:t>- cancel_all_orders() 撤销所有订单</a:t>
            </a:r>
            <a:br/>
            <a:r>
              <a:t>- get_order_history() 订单历史</a:t>
            </a:r>
            <a:br/>
            <a:br/>
            <a:r>
              <a:t>自动检测 API Key，无效时切换 Mock 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风控约束 (validate_order)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MIN_ORDER_VALUE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9776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</a:defRPr>
            </a:pPr>
            <a:r>
              <a:t>$50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9776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低于此金额跳过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16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MAX_ORDER_VALUE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416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</a:defRPr>
            </a:pPr>
            <a:r>
              <a:t>$200,000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单笔上限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55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MAX_POSITION_PCT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855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</a:defRPr>
            </a:pPr>
            <a: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55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单票占组合比例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9437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市场状态检查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29437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</a:defRPr>
            </a:pPr>
            <a:r>
              <a:t>is_market_open()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29437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非开盘时间不下单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33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买入力校验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733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</a:defRPr>
            </a:pPr>
            <a:r>
              <a:t>buying_power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7332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现金不足拒绝买入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</a:defRPr>
            </a:pPr>
            <a:r>
              <a:t>执行流程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4813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1. 检查市场状态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4813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is_market_open()</a:t>
            </a:r>
            <a:br/>
            <a:r>
              <a:t>非交易时段直接跳过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76272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194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2. 获取账户信息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buying_power, portfolio_value</a:t>
            </a:r>
            <a:br/>
            <a:r>
              <a:t>用于风控校验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89504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907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3. 排序订单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077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SELL 订单排在前面</a:t>
            </a:r>
            <a:br/>
            <a:r>
              <a:t>先卖出释放现金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02736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210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4. 逐笔风控校验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6210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validate_order()</a:t>
            </a:r>
            <a:br/>
            <a:r>
              <a:t>不通过则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315968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3342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5. 下单执行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33425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alpaca_service.place_order()</a:t>
            </a:r>
            <a:br/>
            <a:r>
              <a:t>market / limit / stop_loss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29200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0474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6. 更新买入力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047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每笔 buy 成功后</a:t>
            </a:r>
            <a:br/>
            <a:r>
              <a:t>扣减 buying_power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742431"/>
            <a:ext cx="5029200" cy="5943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76071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7. 记录 Trade Journal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7607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完整记录每笔交易</a:t>
            </a:r>
            <a:br/>
            <a:r>
              <a:t>保存到 trade_journals/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6400800"/>
            <a:ext cx="5029200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8C00"/>
                </a:solidFill>
              </a:defRPr>
            </a:pPr>
            <a:r>
              <a:t>美东时间 9:30-16:00 (周一至周五)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Agent Tools &amp; Function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每个 Agent 通过 @function_tool 注册工具，LLM 自动选择调用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Tools (函数工具)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功能说明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1430000" cy="74980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Orchestrator</a:t>
            </a:r>
            <a:br/>
            <a:r>
              <a:t>编排调度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28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fetch_market_data</a:t>
            </a:r>
            <a:br/>
            <a:r>
              <a:t>store_reflection · query_lessons</a:t>
            </a:r>
            <a:br/>
            <a:r>
              <a:t>search_knowledge</a:t>
            </a:r>
            <a:br/>
            <a:r>
              <a:t>+ 5 个 Agent as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数据获取、记忆存/查、知识检索</a:t>
            </a:r>
            <a:br/>
            <a:r>
              <a:t>调度全部子 Agent 完成流水线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87752"/>
            <a:ext cx="1143000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334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Alpha Signal</a:t>
            </a:r>
            <a:br/>
            <a:r>
              <a:t>信号生成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3347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run_alpha_pipeline (Fast Path)</a:t>
            </a:r>
            <a:br/>
            <a:r>
              <a:t>calculate_indicators_tool</a:t>
            </a:r>
            <a:br/>
            <a:r>
              <a:t>train_predict_tool</a:t>
            </a:r>
            <a:br/>
            <a:r>
              <a:t>submit_signals_tool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334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技术指标 RSI/MACD/Bollinger</a:t>
            </a:r>
            <a:br/>
            <a:r>
              <a:t>ML 模型训练与预测</a:t>
            </a:r>
            <a:br/>
            <a:r>
              <a:t>信号阈值过滤输出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92424"/>
            <a:ext cx="11430000" cy="74980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3814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Risk Signal</a:t>
            </a:r>
            <a:br/>
            <a:r>
              <a:t>风险控制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3814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run_risk_pipeline (Fast Path)</a:t>
            </a:r>
            <a:br/>
            <a:r>
              <a:t>calculate_volatility_tool</a:t>
            </a:r>
            <a:br/>
            <a:r>
              <a:t>submit_risk_assessment_tool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3814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20日滚动波动率 · VaR 95%</a:t>
            </a:r>
            <a:br/>
            <a:r>
              <a:t>风险等级 HIGH/LOW 划分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97096"/>
            <a:ext cx="1143000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42816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Portfolio</a:t>
            </a:r>
            <a:br/>
            <a:r>
              <a:t>组合优化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4281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run_portfolio_pipeline (Fast Path)</a:t>
            </a:r>
            <a:br/>
            <a:r>
              <a:t>construct_portfolio_tool</a:t>
            </a:r>
            <a:br/>
            <a:r>
              <a:t>submit_portfolio_tool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4281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信号→权重等权分配</a:t>
            </a:r>
            <a:br/>
            <a:r>
              <a:t>风险资本比例调整</a:t>
            </a:r>
            <a:br/>
            <a:r>
              <a:t>先卖后买订单生成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01768"/>
            <a:ext cx="11430000" cy="74980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Backtest</a:t>
            </a:r>
            <a:br/>
            <a:r>
              <a:t>回测评估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04748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initialize_qlib_data · run_qlib_backtest</a:t>
            </a:r>
            <a:br/>
            <a:r>
              <a:t>run_comprehensive_backtest</a:t>
            </a:r>
            <a:br/>
            <a:r>
              <a:t>train_qlib_model · analyze_factor_ic</a:t>
            </a:r>
            <a:br/>
            <a:r>
              <a:t>optimize_portfolio_weights</a:t>
            </a:r>
            <a:br/>
            <a:r>
              <a:t>run_walk_forward_analysis ... (共 18 个)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474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Qlib 框架回测 · 因子 IC 分析</a:t>
            </a:r>
            <a:br/>
            <a:r>
              <a:t>ML 模型训练 · 组合优化</a:t>
            </a:r>
            <a:br/>
            <a:r>
              <a:t>前向分析 · 风险归因 · 交易成本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806440"/>
            <a:ext cx="1143000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Execution</a:t>
            </a:r>
            <a:br/>
            <a:r>
              <a:t>订单执行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852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</a:defRPr>
            </a:pPr>
            <a:r>
              <a:t>get_account_summary</a:t>
            </a:r>
            <a:br/>
            <a:r>
              <a:t>get_current_positions</a:t>
            </a:r>
            <a:br/>
            <a:r>
              <a:t>execute_orders</a:t>
            </a:r>
            <a:br/>
            <a:r>
              <a:t>cancel_all_pending_orders</a:t>
            </a:r>
            <a:br/>
            <a:r>
              <a:t>get_order_history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852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Alpaca API 账户/持仓查询</a:t>
            </a:r>
            <a:br/>
            <a:r>
              <a:t>订单执行与撤销</a:t>
            </a:r>
            <a:br/>
            <a:r>
              <a:t>风控校验 (单笔/仓位/买力)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</a:defRPr>
            </a:pPr>
            <a:r>
              <a:t>Fast Path = 一键全流程 (推荐)  |  Custom Path = 分步调用单个工具 (精细控制)  |  Agent.as_tool() = 子Agent注册为父Agent的工具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MCP Protocol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Model Context Protocol — 标准化 Agent ↔ 外部服务通信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4846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FinAgent MCP Server (FastMCP v2.0)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29200" cy="4114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          MCP Server (FastMCP)            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                                          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┌────────────┐ ┌────────────┐ ┌───────────┐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Memory     │ │ Alpha      │ │ Agent     │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Tools      │ │ Strategy   │ │ Management│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• store    │ │ • signals  │ │ • start   │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• retrieve │ │ • backtest │ │ • list    │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• delete   │ │ • factors  │ │ • status  │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└────────────┘ └────────────┘ └───────────┘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                                          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┌─────────────────────────────────────────┐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   Unified Interface Manager            │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   MCP · HTTP · A2A 三协议统一          │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└─────────────────────────────────────────┘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┌─────────────────────────────────────────┐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   Unified Database Manager             │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│    Neo4j Graph + ChromaDB Vector        │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└─────────────────────────────────────────┘   │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└───────────────────────────────────────────────┘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760720" cy="48463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MCP Exposed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🧠 Memory Layer (Neo4j + ChromaDB)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store_graph_memory         — 结构化记忆存储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retrieve_graph_memory      — 语义检索记忆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store_graph_memories_batch — 批量存储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search_memories_semantic   — 向量语义搜索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get_memory_statistics      — 记忆统计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📊 Alpha Strategy Layer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generate_alpha_signals     — 生成 Alpha 信号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discover_alpha_factors     — 因子发现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develop_strategy_config    — 策略配置生成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run_comprehensive_backtest — 综合回测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submit_strategy_to_memory  — 策略存入记忆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validate_strategy_perf     — 策略验证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🤖 Agent Management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   start_agent / list_agents / get_agent_status</a:t>
            </a: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00FF88"/>
                </a:solidFill>
                <a:latin typeface="Courier New"/>
              </a:defRPr>
            </a:pPr>
            <a:r>
              <a:t>📡 协议支持: MCP · HTTP · A2A (SSE 实时推送)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263640"/>
            <a:ext cx="3566160" cy="5029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</a:defRPr>
            </a:pPr>
            <a:r>
              <a:t>🔗 SSE 实时通信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MCP Server 支持 SSE 端点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6263640"/>
            <a:ext cx="3566160" cy="5029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6263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</a:defRPr>
            </a:pPr>
            <a:r>
              <a:t>🔄 三协议统一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492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MCP / HTTP / A2A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6263640"/>
            <a:ext cx="3566160" cy="5029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6263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📦 工具自注册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6492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ToolDefinition 自动注册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</a:defRPr>
            </a:pPr>
            <a:r>
              <a:t>数据流时序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4572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Market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拉取全市场股票 (Alpaca API)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38528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95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568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快照预筛 -&gt; RAG查询 -&gt; 记忆查询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88336"/>
            <a:ext cx="4572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340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45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066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Alpha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34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Qlib ML 预测 -&gt; 因子信号输出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438144"/>
            <a:ext cx="457200" cy="4572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4838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95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Risk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8386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波动率/VaR/回撤 -&gt; 风险等级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187952"/>
            <a:ext cx="4572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33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Portfolio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33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信号+风险 -&gt; 权重分配 -&gt; 订单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937759"/>
            <a:ext cx="457200" cy="457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3949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66"/>
                </a:solidFill>
              </a:defRPr>
            </a:pPr>
            <a:r>
              <a:t>|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95604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Backtest /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983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回测报告 / 实盘下单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5687568"/>
            <a:ext cx="4572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733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70585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Memory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733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存储策略表现、教训 -&gt; Neo4j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</a:defRPr>
            </a:pPr>
            <a:r>
              <a:t>记忆与知识系统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47548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Neo4j 图记忆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节点类型: Agent, Strategy, Issue,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关系: PROPOSED, ENCOUNTERED,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存储策略反思与失败教训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下次遇到相似问题自动检索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同步客户端，无需启动服务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206240"/>
            <a:ext cx="4389120" cy="146304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</a:defRPr>
            </a:pPr>
            <a:r>
              <a:t>使用示例: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</a:defRPr>
            </a:pPr>
            <a:r>
              <a:t>client.store_reflection(</a:t>
            </a:r>
            <a:br/>
            <a:r>
              <a:t>  agent="Alpha",</a:t>
            </a:r>
            <a:br/>
            <a:r>
              <a:t>  strategy="momentum_v1",</a:t>
            </a:r>
            <a:br/>
            <a:r>
              <a:t>  issue="overfitting",</a:t>
            </a:r>
            <a:br/>
            <a:r>
              <a:t>  lesson="Use walk-forward")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029200" cy="47548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</a:defRPr>
            </a:pPr>
            <a:r>
              <a:t>ChromaDB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Alpha101 论文 PDF 自动索引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60+ 文本片段向量化存储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语义搜索因子构建方法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首次使用自动构建向量索引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&gt;&gt; 开箱即用，零配置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206240"/>
            <a:ext cx="4389120" cy="146304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251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</a:defRPr>
            </a:pPr>
            <a:r>
              <a:t>使用示例: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26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F88"/>
                </a:solidFill>
              </a:defRPr>
            </a:pPr>
            <a:r>
              <a:t>rag = get_rag_client()</a:t>
            </a:r>
            <a:br/>
            <a:r>
              <a:t>results = rag.query(</a:t>
            </a:r>
            <a:br/>
            <a:r>
              <a:t>  "momentum factor",</a:t>
            </a:r>
            <a:br/>
            <a:r>
              <a:t>  n_results=3)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Agent 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OpenAI SDK / LangChain / LangGraph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大语言模型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GPT-4o / Claude (Poe 代理)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量化框架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Qlib (Microsoft) - 158 因子 + ML + 回测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</a:defRPr>
            </a:pPr>
            <a:r>
              <a:t>市场数据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Alpaca Markets API - 美股全市场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55"/>
                </a:solidFill>
              </a:defRPr>
            </a:pPr>
            <a:r>
              <a:t>交易执行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Alpaca Trading API - 纸交易/实盘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图数据库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Neo4j - 策略记忆图谱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向量数据库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ChromaDB - RAG 语义检索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92040"/>
            <a:ext cx="5303520" cy="10058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通信协议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MCP / A2A - Agent 间标准化通信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快速上手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回测 S&amp;P 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417320"/>
            <a:ext cx="9875520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</a:defRPr>
            </a:pPr>
            <a:r>
              <a:t>python run_paper_trading.py --mode backtest --universe sp500 --start 2024-01-01 --end 2024-03-01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51560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单次实时交易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468880"/>
            <a:ext cx="9875520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</a:defRPr>
            </a:pPr>
            <a:r>
              <a:t>python run_paper_trading.py --mode once --universe nasdaq100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1051560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连续自动交易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520440"/>
            <a:ext cx="9875520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</a:defRPr>
            </a:pPr>
            <a:r>
              <a:t>python run_paper_trading.py --mode continuous --universe liquid --interval 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60520"/>
            <a:ext cx="1051560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滚动周回测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</a:defRPr>
            </a:pPr>
            <a:r>
              <a:t>python run_paper_trading.py --mode backtest --symbol AAPL,MSFT --rolling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12079"/>
            <a:ext cx="10515600" cy="86868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7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</a:defRPr>
            </a:pPr>
            <a:r>
              <a:t>禁用 RAG/Memory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5623559"/>
            <a:ext cx="9875520" cy="36576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62355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</a:defRPr>
            </a:pPr>
            <a:r>
              <a:t>python run_paper_trading.py --mode backtest --universe sp500 --no-rag --no-memory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--universe:  nasdaq100 (~100)  |  sp500 (~500)  |  liquid (~2000)  |  all (全部)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88"/>
                </a:solidFill>
              </a:defRPr>
            </a:pPr>
            <a:r>
              <a:t>技术创新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LLM + 量化深度融合，非简单包装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Agent-as-Tool 模式，灵活编排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MCP 协议标准化 Agent 间通信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图记忆系统，策略经验沉淀复用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RAG 增强，理论指导实践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全市场覆盖，不限于少数股票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工程亮点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统一入口，一个命令覆盖所有模式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优雅降级，依赖不可用时自动 Mock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模块解耦，每个 Agent 独立可测试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40+ Function Tools 自动注册调用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RAG 自动构建，首次使用零配置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* 完整 Trade Journal 交易日志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开发路线图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4572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</a:defRPr>
            </a:pPr>
            <a:r>
              <a:t>Phase 1 [DONE]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310896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多 Agent 协作框架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Orchestrator + Agent-as-Tool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Neo4j 图记忆 + ChromaDB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全市场股票池 + 快照预筛选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三种交易模式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188720"/>
            <a:ext cx="3474720" cy="4572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</a:defRPr>
            </a:pPr>
            <a:r>
              <a:t>Phase 2 [WIP]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83080"/>
            <a:ext cx="310896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全市场 Alpha 截面排名模型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行业中性化与风险因子控制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多周期回测 (日/周/月频)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474720" cy="45720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Phase 3 [PLAN]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783080"/>
            <a:ext cx="310896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TWAP / VWAP 算法执行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记忆系统深度整合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A 股市场接入 (Tushare)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&gt;&gt; Web Dashboard 实时监控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Lianghua - Multi-Agent Quantitative Investment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88"/>
                </a:solidFill>
              </a:defRPr>
            </a:pPr>
            <a:r>
              <a:t>LLM-Driven  |  Memory-Augmented  |  RAG-Enhanced  |  Fully Automated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